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7.png"/><Relationship Id="rId12" Type="http://schemas.openxmlformats.org/officeDocument/2006/relationships/image" Target="../media/image-2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552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CivicPulse: Smart Governance Portal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2154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Bridging Citizens and Municipal Administration Through Full-Stack Automation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9002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Nalam Sri Lakshmi Gayathri Anusha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99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 Statement &amp; Solution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39042" y="1562199"/>
            <a:ext cx="5471777" cy="4494808"/>
          </a:xfrm>
          <a:prstGeom prst="roundRect">
            <a:avLst>
              <a:gd name="adj" fmla="val 2725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9099" y="1715294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Traditional Challenges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895" y="2158454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32" y="2153245"/>
            <a:ext cx="45789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Transparency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61832" y="2572048"/>
            <a:ext cx="45789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transparency in municipal processes leaves citizens in the dark.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895" y="3400574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32" y="3395365"/>
            <a:ext cx="45789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Heavy Paperwork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261832" y="3814167"/>
            <a:ext cx="45789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workflows slow down every step of civic administration.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895" y="4642693"/>
            <a:ext cx="255085" cy="2550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32" y="4637484"/>
            <a:ext cx="45789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Delayed Responses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261832" y="5056287"/>
            <a:ext cx="45789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municipal response times erode public trust and satisfaction.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09659" y="171529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Solution</a:t>
            </a:r>
            <a:endParaRPr lang="en-US" sz="16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659" y="2153245"/>
            <a:ext cx="5226911" cy="1055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74963" y="2342356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Centralized Digital Platform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574963" y="2761159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issue reporting accessible to every citizen, anytime.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9659" y="3361928"/>
            <a:ext cx="5226911" cy="13141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74963" y="3551039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Real-Time Visibility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6574963" y="3969841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progress workflows so citizens always know where things stand.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09659" y="4829175"/>
            <a:ext cx="5226911" cy="1055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74963" y="5018286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Secure Certificate Management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574963" y="5437088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certificate handling with instant, secure downloads.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62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Core Features &amp; User Interface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68723"/>
            <a:ext cx="401627" cy="401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3754" y="1368723"/>
            <a:ext cx="29368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Feed &amp; Tracking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233754" y="1701602"/>
            <a:ext cx="2936802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municipal feeds with transparent updates. A clear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3-step progress workflow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Open/Pending → In Progress → Resolved — keeps every stakeholder informed.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1368723"/>
            <a:ext cx="401627" cy="401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13487" y="1368723"/>
            <a:ext cx="2936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GPS-Enabled Grievance Filing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913487" y="1701602"/>
            <a:ext cx="293690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Citizens can file grievances with precise GPS location tagging and photo attachments for accurate, evidence-backed reporting.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040" y="1368723"/>
            <a:ext cx="401627" cy="401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3319" y="1368723"/>
            <a:ext cx="29368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Digital Certificate Services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593319" y="1701602"/>
            <a:ext cx="29368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digital certificate applications with instant downloads — no queues, no paperwork, no delays.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779" y="3043833"/>
            <a:ext cx="5426038" cy="322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59380" y="5517275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Resolved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59541" y="5517275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731987" y="5387359"/>
            <a:ext cx="1348785" cy="519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/ Pending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94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Administrative Operations &amp; Welfare Schemes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908373"/>
            <a:ext cx="1426730" cy="243979"/>
          </a:xfrm>
          <a:prstGeom prst="roundRect">
            <a:avLst>
              <a:gd name="adj" fmla="val 22126"/>
            </a:avLst>
          </a:prstGeom>
          <a:solidFill>
            <a:srgbClr val="0F16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14" y="1966119"/>
            <a:ext cx="128485" cy="128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492" y="1956495"/>
            <a:ext cx="165095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220692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Secure Role-Based Access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594471"/>
            <a:ext cx="52384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Municipal authorities operate within a secure, role-gated environment — ensuring only authorized personnel can review, update, and manage grievances.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8149" y="1908373"/>
            <a:ext cx="1555910" cy="243979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488" y="1966119"/>
            <a:ext cx="128485" cy="128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7166" y="1956495"/>
            <a:ext cx="1780138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WELFARE SCHEMES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98149" y="220692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Centralized Welfare Listings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298149" y="2594471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active government welfare initiatives are listed in one place — clear, accessible, and up to date.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1475" y="3584079"/>
            <a:ext cx="5366112" cy="1142305"/>
          </a:xfrm>
          <a:prstGeom prst="roundRect">
            <a:avLst>
              <a:gd name="adj" fmla="val 590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8456" y="3751064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Review &amp; Track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28456" y="4083943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manage all citizen grievances from a unified dashboard.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64108" y="3584079"/>
            <a:ext cx="5366112" cy="1142305"/>
          </a:xfrm>
          <a:prstGeom prst="roundRect">
            <a:avLst>
              <a:gd name="adj" fmla="val 590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31089" y="3751064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Regional Analytics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331089" y="4083943"/>
            <a:ext cx="50321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dashboards with regional insights for data-driven decisions.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61475" y="4879975"/>
            <a:ext cx="5366112" cy="929977"/>
          </a:xfrm>
          <a:prstGeom prst="roundRect">
            <a:avLst>
              <a:gd name="adj" fmla="val 7256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41156" y="505966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Eligibility Guidelines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841156" y="5392539"/>
            <a:ext cx="500675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criteria so citizens know exactly which schemes apply to them.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164108" y="4879975"/>
            <a:ext cx="5366112" cy="929977"/>
          </a:xfrm>
          <a:prstGeom prst="roundRect">
            <a:avLst>
              <a:gd name="adj" fmla="val 7256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43789" y="505966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Application Tracking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343789" y="5392539"/>
            <a:ext cx="500675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visibility on welfare application status and progress.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277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Architecture &amp; Security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57065"/>
            <a:ext cx="3946029" cy="3946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75131" y="1614785"/>
            <a:ext cx="834012" cy="215305"/>
          </a:xfrm>
          <a:prstGeom prst="roundRect">
            <a:avLst>
              <a:gd name="adj" fmla="val 22123"/>
            </a:avLst>
          </a:prstGeom>
          <a:solidFill>
            <a:srgbClr val="0F163E"/>
          </a:solidFill>
          <a:ln/>
        </p:spPr>
      </p:sp>
      <p:sp>
        <p:nvSpPr>
          <p:cNvPr id="5" name="Text 2"/>
          <p:cNvSpPr/>
          <p:nvPr/>
        </p:nvSpPr>
        <p:spPr>
          <a:xfrm>
            <a:off x="6360160" y="1657251"/>
            <a:ext cx="12735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75131" y="194964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5131" y="2171502"/>
            <a:ext cx="5261439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8" name="Text 5"/>
          <p:cNvSpPr/>
          <p:nvPr/>
        </p:nvSpPr>
        <p:spPr>
          <a:xfrm>
            <a:off x="6275131" y="2280444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75131" y="2608163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with Tailwind CSS for responsive design; Lucide icons for a modern, intuitive user experience.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75131" y="321756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5131" y="3439418"/>
            <a:ext cx="5261439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2" name="Text 9"/>
          <p:cNvSpPr/>
          <p:nvPr/>
        </p:nvSpPr>
        <p:spPr>
          <a:xfrm>
            <a:off x="6275131" y="354836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75131" y="3876080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Spring Boot REST APIs for a scalable backend; PostgreSQL relational database for robust data management.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75131" y="448548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75131" y="4707334"/>
            <a:ext cx="5261439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6" name="Text 13"/>
          <p:cNvSpPr/>
          <p:nvPr/>
        </p:nvSpPr>
        <p:spPr>
          <a:xfrm>
            <a:off x="6275131" y="481627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Security &amp; Validation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75131" y="5143996"/>
            <a:ext cx="526143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inline validations for 10-digit mobile numbers. Secure password policies: minimum 8 characters, uppercase, and special character requirements. Show/hide eye-icon for password visibility control.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403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Thank You!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45245"/>
            <a:ext cx="10868745" cy="14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Empowering Smarter and Transparent Municipal Communities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61475" y="338435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FD0D8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618111"/>
            <a:ext cx="10868745" cy="1925042"/>
          </a:xfrm>
          <a:prstGeom prst="roundRect">
            <a:avLst>
              <a:gd name="adj" fmla="val 3712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3624461"/>
            <a:ext cx="5428023" cy="956171"/>
          </a:xfrm>
          <a:custGeom>
            <a:avLst/>
            <a:gdLst/>
            <a:ahLst/>
            <a:cxnLst/>
            <a:rect l="l" t="t" r="r" b="b"/>
            <a:pathLst>
              <a:path w="5428023" h="956171">
                <a:moveTo>
                  <a:pt x="59541" y="0"/>
                </a:moveTo>
                <a:lnTo>
                  <a:pt x="5428023" y="0"/>
                </a:lnTo>
                <a:lnTo>
                  <a:pt x="5428023" y="956171"/>
                </a:lnTo>
                <a:lnTo>
                  <a:pt x="0" y="956171"/>
                </a:lnTo>
                <a:lnTo>
                  <a:pt x="0" y="59542"/>
                </a:lnTo>
                <a:arcTo hR="59542" wR="59541" stAng="10800000" swAng="5400000"/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7" name="Text 5"/>
          <p:cNvSpPr/>
          <p:nvPr/>
        </p:nvSpPr>
        <p:spPr>
          <a:xfrm>
            <a:off x="837881" y="3794522"/>
            <a:ext cx="50879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7881" y="4152007"/>
            <a:ext cx="508790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visibility for every citizen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3624461"/>
            <a:ext cx="5428023" cy="956171"/>
          </a:xfrm>
          <a:custGeom>
            <a:avLst/>
            <a:gdLst/>
            <a:ahLst/>
            <a:cxnLst/>
            <a:rect l="l" t="t" r="r" b="b"/>
            <a:pathLst>
              <a:path w="5428023" h="956171">
                <a:moveTo>
                  <a:pt x="0" y="0"/>
                </a:moveTo>
                <a:lnTo>
                  <a:pt x="5368482" y="0"/>
                </a:lnTo>
                <a:arcTo hR="59542" wR="59541" stAng="16200000" swAng="5400000"/>
                <a:lnTo>
                  <a:pt x="5428023" y="956171"/>
                </a:lnTo>
                <a:lnTo>
                  <a:pt x="0" y="956171"/>
                </a:lnTo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624461"/>
            <a:ext cx="19050" cy="956171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11" name="Text 9"/>
          <p:cNvSpPr/>
          <p:nvPr/>
        </p:nvSpPr>
        <p:spPr>
          <a:xfrm>
            <a:off x="6265904" y="3794522"/>
            <a:ext cx="50879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Efficient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265904" y="4152007"/>
            <a:ext cx="508790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workflows, zero paperwork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825" y="4580632"/>
            <a:ext cx="5428023" cy="956171"/>
          </a:xfrm>
          <a:custGeom>
            <a:avLst/>
            <a:gdLst/>
            <a:ahLst/>
            <a:cxnLst/>
            <a:rect l="l" t="t" r="r" b="b"/>
            <a:pathLst>
              <a:path w="5428023" h="956171">
                <a:moveTo>
                  <a:pt x="0" y="0"/>
                </a:moveTo>
                <a:lnTo>
                  <a:pt x="5428023" y="0"/>
                </a:lnTo>
                <a:lnTo>
                  <a:pt x="5428023" y="956171"/>
                </a:lnTo>
                <a:lnTo>
                  <a:pt x="59541" y="956171"/>
                </a:lnTo>
                <a:arcTo hR="59542" wR="59541" stAng="5400000" swAng="5400000"/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825" y="458063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15" name="Text 13"/>
          <p:cNvSpPr/>
          <p:nvPr/>
        </p:nvSpPr>
        <p:spPr>
          <a:xfrm>
            <a:off x="837881" y="4750693"/>
            <a:ext cx="50879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7881" y="5108178"/>
            <a:ext cx="508790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and strict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4580632"/>
            <a:ext cx="5428023" cy="956171"/>
          </a:xfrm>
          <a:custGeom>
            <a:avLst/>
            <a:gdLst/>
            <a:ahLst/>
            <a:cxnLst/>
            <a:rect l="l" t="t" r="r" b="b"/>
            <a:pathLst>
              <a:path w="5428023" h="956171">
                <a:moveTo>
                  <a:pt x="0" y="0"/>
                </a:moveTo>
                <a:lnTo>
                  <a:pt x="5428023" y="0"/>
                </a:lnTo>
                <a:lnTo>
                  <a:pt x="5428023" y="896629"/>
                </a:lnTo>
                <a:arcTo hR="59542" wR="59541" stAng="0" swAng="5400000"/>
                <a:lnTo>
                  <a:pt x="0" y="956171"/>
                </a:lnTo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4580632"/>
            <a:ext cx="19050" cy="956171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458063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5904" y="4750693"/>
            <a:ext cx="50879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Inclusive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265904" y="5108178"/>
            <a:ext cx="508790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Welfare schemes accessible to 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82" y="571539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A6E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CivicPulse</a:t>
            </a:r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Built with React · Spring Boot · PostgreSQL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2026-09-02T14:05:56Z</dcterms:created>
  <dcterms:modified xsi:type="dcterms:W3CDTF">2026-09-02T14:05:56Z</dcterms:modified>
</cp:coreProperties>
</file>